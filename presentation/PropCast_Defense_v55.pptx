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b4721d706b45bd" /><Relationship Type="http://schemas.openxmlformats.org/officeDocument/2006/relationships/extended-properties" Target="/docProps/app.xml" Id="R385b40daa15b44ce" /><Relationship Type="http://schemas.openxmlformats.org/officeDocument/2006/relationships/officeDocument" Target="/ppt/presentation.xml" Id="R07e8659e995e44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263e12be714b3e"/>
  </p:sldMasterIdLst>
  <p:notesMasterIdLst>
    <p:notesMasterId xmlns:r="http://schemas.openxmlformats.org/officeDocument/2006/relationships" r:id="Rb164ac2356c24e8b"/>
  </p:notesMasterIdLst>
  <p:sldIdLst>
    <p:sldId xmlns:r="http://schemas.openxmlformats.org/officeDocument/2006/relationships" id="256" r:id="Rd4fdc1830d434a50"/>
    <p:sldId xmlns:r="http://schemas.openxmlformats.org/officeDocument/2006/relationships" id="257" r:id="Re7272357179f4957"/>
    <p:sldId xmlns:r="http://schemas.openxmlformats.org/officeDocument/2006/relationships" id="258" r:id="Rd70205cac5c94aea"/>
    <p:sldId xmlns:r="http://schemas.openxmlformats.org/officeDocument/2006/relationships" id="259" r:id="R7c2369dc7d1441f6"/>
    <p:sldId xmlns:r="http://schemas.openxmlformats.org/officeDocument/2006/relationships" id="260" r:id="R8a69e3d3a07540a3"/>
    <p:sldId xmlns:r="http://schemas.openxmlformats.org/officeDocument/2006/relationships" id="261" r:id="R356ee45cdbf040e0"/>
    <p:sldId xmlns:r="http://schemas.openxmlformats.org/officeDocument/2006/relationships" id="262" r:id="R605491660f0b40d1"/>
    <p:sldId xmlns:r="http://schemas.openxmlformats.org/officeDocument/2006/relationships" id="263" r:id="R3fc2cf12464244c1"/>
    <p:sldId xmlns:r="http://schemas.openxmlformats.org/officeDocument/2006/relationships" id="264" r:id="R9f0fbcfe9fa84024"/>
    <p:sldId xmlns:r="http://schemas.openxmlformats.org/officeDocument/2006/relationships" id="265" r:id="R857e57a0c63548a7"/>
    <p:sldId xmlns:r="http://schemas.openxmlformats.org/officeDocument/2006/relationships" id="266" r:id="Rd906db559dc04bd4"/>
    <p:sldId xmlns:r="http://schemas.openxmlformats.org/officeDocument/2006/relationships" id="267" r:id="Rd299a32fb3924ab5"/>
    <p:sldId xmlns:r="http://schemas.openxmlformats.org/officeDocument/2006/relationships" id="268" r:id="Rddfa60df75ee41fb"/>
    <p:sldId xmlns:r="http://schemas.openxmlformats.org/officeDocument/2006/relationships" id="269" r:id="R84c45fec19fd4f98"/>
    <p:sldId xmlns:r="http://schemas.openxmlformats.org/officeDocument/2006/relationships" id="270" r:id="Rbf520b5fb3364032"/>
    <p:sldId xmlns:r="http://schemas.openxmlformats.org/officeDocument/2006/relationships" id="271" r:id="R3cbe7aaa4de74c72"/>
    <p:sldId xmlns:r="http://schemas.openxmlformats.org/officeDocument/2006/relationships" id="272" r:id="R6964e49af6ea476f"/>
    <p:sldId xmlns:r="http://schemas.openxmlformats.org/officeDocument/2006/relationships" id="273" r:id="R8e26472ba2a54005"/>
    <p:sldId xmlns:r="http://schemas.openxmlformats.org/officeDocument/2006/relationships" id="274" r:id="R62bda75a806a48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dec2ca3e3f4160" /><Relationship Type="http://schemas.openxmlformats.org/officeDocument/2006/relationships/slideMaster" Target="/ppt/slideMasters/slideMaster1.xml" Id="R11263e12be714b3e" /><Relationship Type="http://schemas.openxmlformats.org/officeDocument/2006/relationships/notesMaster" Target="/ppt/notesMasters/notesMaster1.xml" Id="Rb164ac2356c24e8b" /><Relationship Type="http://schemas.openxmlformats.org/officeDocument/2006/relationships/presProps" Target="/ppt/presProps.xml" Id="R6c3fb1f605d64e25" /><Relationship Type="http://schemas.openxmlformats.org/officeDocument/2006/relationships/tableStyles" Target="/ppt/tableStyles.xml" Id="R807fa9621aa24cec" /><Relationship Type="http://schemas.openxmlformats.org/officeDocument/2006/relationships/slide" Target="/ppt/slides/slide1.xml" Id="Rd4fdc1830d434a50" /><Relationship Type="http://schemas.openxmlformats.org/officeDocument/2006/relationships/slide" Target="/ppt/slides/slide2.xml" Id="Re7272357179f4957" /><Relationship Type="http://schemas.openxmlformats.org/officeDocument/2006/relationships/slide" Target="/ppt/slides/slide3.xml" Id="Rd70205cac5c94aea" /><Relationship Type="http://schemas.openxmlformats.org/officeDocument/2006/relationships/slide" Target="/ppt/slides/slide4.xml" Id="R7c2369dc7d1441f6" /><Relationship Type="http://schemas.openxmlformats.org/officeDocument/2006/relationships/slide" Target="/ppt/slides/slide5.xml" Id="R8a69e3d3a07540a3" /><Relationship Type="http://schemas.openxmlformats.org/officeDocument/2006/relationships/slide" Target="/ppt/slides/slide6.xml" Id="R356ee45cdbf040e0" /><Relationship Type="http://schemas.openxmlformats.org/officeDocument/2006/relationships/slide" Target="/ppt/slides/slide7.xml" Id="R605491660f0b40d1" /><Relationship Type="http://schemas.openxmlformats.org/officeDocument/2006/relationships/slide" Target="/ppt/slides/slide8.xml" Id="R3fc2cf12464244c1" /><Relationship Type="http://schemas.openxmlformats.org/officeDocument/2006/relationships/slide" Target="/ppt/slides/slide9.xml" Id="R9f0fbcfe9fa84024" /><Relationship Type="http://schemas.openxmlformats.org/officeDocument/2006/relationships/slide" Target="/ppt/slides/slide10.xml" Id="R857e57a0c63548a7" /><Relationship Type="http://schemas.openxmlformats.org/officeDocument/2006/relationships/slide" Target="/ppt/slides/slide11.xml" Id="Rd906db559dc04bd4" /><Relationship Type="http://schemas.openxmlformats.org/officeDocument/2006/relationships/slide" Target="/ppt/slides/slide12.xml" Id="Rd299a32fb3924ab5" /><Relationship Type="http://schemas.openxmlformats.org/officeDocument/2006/relationships/slide" Target="/ppt/slides/slide13.xml" Id="Rddfa60df75ee41fb" /><Relationship Type="http://schemas.openxmlformats.org/officeDocument/2006/relationships/slide" Target="/ppt/slides/slide14.xml" Id="R84c45fec19fd4f98" /><Relationship Type="http://schemas.openxmlformats.org/officeDocument/2006/relationships/slide" Target="/ppt/slides/slide15.xml" Id="Rbf520b5fb3364032" /><Relationship Type="http://schemas.openxmlformats.org/officeDocument/2006/relationships/slide" Target="/ppt/slides/slide16.xml" Id="R3cbe7aaa4de74c72" /><Relationship Type="http://schemas.openxmlformats.org/officeDocument/2006/relationships/slide" Target="/ppt/slides/slide17.xml" Id="R6964e49af6ea476f" /><Relationship Type="http://schemas.openxmlformats.org/officeDocument/2006/relationships/slide" Target="/ppt/slides/slide18.xml" Id="R8e26472ba2a54005" /><Relationship Type="http://schemas.openxmlformats.org/officeDocument/2006/relationships/slide" Target="/ppt/slides/slide19.xml" Id="R62bda75a806a48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0524ff4e1841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db57883a164ec1" /><Relationship Type="http://schemas.openxmlformats.org/officeDocument/2006/relationships/notesMaster" Target="/ppt/notesMasters/notesMaster1.xml" Id="Rd2dc534e31e744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79278732af4b5e" /><Relationship Type="http://schemas.openxmlformats.org/officeDocument/2006/relationships/notesMaster" Target="/ppt/notesMasters/notesMaster1.xml" Id="Rc01ed070d84044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209ca380754d1c" /><Relationship Type="http://schemas.openxmlformats.org/officeDocument/2006/relationships/notesMaster" Target="/ppt/notesMasters/notesMaster1.xml" Id="Ra149d396359648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71ac94a62a4895" /><Relationship Type="http://schemas.openxmlformats.org/officeDocument/2006/relationships/notesMaster" Target="/ppt/notesMasters/notesMaster1.xml" Id="Rcc9f2afb5c644f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96f676d3b54ab1" /><Relationship Type="http://schemas.openxmlformats.org/officeDocument/2006/relationships/notesMaster" Target="/ppt/notesMasters/notesMaster1.xml" Id="Rd235043536a74d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7946e77d174402" /><Relationship Type="http://schemas.openxmlformats.org/officeDocument/2006/relationships/notesMaster" Target="/ppt/notesMasters/notesMaster1.xml" Id="R38082d03004c4c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ae3ed9eb6d47a4" /><Relationship Type="http://schemas.openxmlformats.org/officeDocument/2006/relationships/notesMaster" Target="/ppt/notesMasters/notesMaster1.xml" Id="Ra65a06ea4d1e40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f6f8ab4bc540f8" /><Relationship Type="http://schemas.openxmlformats.org/officeDocument/2006/relationships/notesMaster" Target="/ppt/notesMasters/notesMaster1.xml" Id="Recfd79228bc042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e7951f4897483c" /><Relationship Type="http://schemas.openxmlformats.org/officeDocument/2006/relationships/notesMaster" Target="/ppt/notesMasters/notesMaster1.xml" Id="R858af7b9ab4640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8e766ba0b74d79" /><Relationship Type="http://schemas.openxmlformats.org/officeDocument/2006/relationships/notesMaster" Target="/ppt/notesMasters/notesMaster1.xml" Id="R019a7b1207d24f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1a3f4ce44a4c91" /><Relationship Type="http://schemas.openxmlformats.org/officeDocument/2006/relationships/notesMaster" Target="/ppt/notesMasters/notesMaster1.xml" Id="R49af2deb8ea345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51cd845ebd4df7" /><Relationship Type="http://schemas.openxmlformats.org/officeDocument/2006/relationships/notesMaster" Target="/ppt/notesMasters/notesMaster1.xml" Id="Raec271ffa657461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30b4ae4d5447c9" /><Relationship Type="http://schemas.openxmlformats.org/officeDocument/2006/relationships/notesMaster" Target="/ppt/notesMasters/notesMaster1.xml" Id="R7f538492aea647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b3ce055a154578" /><Relationship Type="http://schemas.openxmlformats.org/officeDocument/2006/relationships/notesMaster" Target="/ppt/notesMasters/notesMaster1.xml" Id="R27804122d16745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3a52f9bbd54ab0" /><Relationship Type="http://schemas.openxmlformats.org/officeDocument/2006/relationships/notesMaster" Target="/ppt/notesMasters/notesMaster1.xml" Id="R4124c4cf0fa54fa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eb25937c3441af" /><Relationship Type="http://schemas.openxmlformats.org/officeDocument/2006/relationships/notesMaster" Target="/ppt/notesMasters/notesMaster1.xml" Id="R88fb49e5709b408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6286e52a1934fc9" /><Relationship Type="http://schemas.openxmlformats.org/officeDocument/2006/relationships/notesMaster" Target="/ppt/notesMasters/notesMaster1.xml" Id="Ra6188e5d761e4a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367164c4dd4a91" /><Relationship Type="http://schemas.openxmlformats.org/officeDocument/2006/relationships/notesMaster" Target="/ppt/notesMasters/notesMaster1.xml" Id="R022611a686df4d0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30200dec2594ce7" /><Relationship Type="http://schemas.openxmlformats.org/officeDocument/2006/relationships/notesMaster" Target="/ppt/notesMasters/notesMaster1.xml" Id="R2b42f72049a146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研究对象是成功上报链路的名义 SNR。本文将残差预测方法与持续学习运行流程分开评价。来源：论文 v55 摘要与第 1 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估计对象为成功上报链路的名义 SNR。来源：论文 v55，第 1.1–1.3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按论文第 1.3.2 节的四个研究问题组织汇报。后续方法、局部诊断与运行评估分别对应这些问题。来源：论文 v55，第 1.3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v55 的七章结构介绍论文：第 1 章提出问题与研究设计；第 2 章说明数据和质量控制；第 3 章给出混合模型及稀疏区稳健化；第 4 章呈现离线实验；第 5 章检验系统运行；第 6 章讨论边界；第 7 章总结。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18,700 条时间留出记录参与 −120 dB 基线下限选择；8.21/34.69 dB 属于开发阶段比较，不是独立测试估计。来源：论文 v55 摘要、第 2 章与第 4 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历史 WSPR 共 93,500 条。18,700 条时间留出数据参与基线下限选择，因此 8.21/34.69 dB 是开发阶段比较；其余 74,800 条构成初始训练池。不能把该比较解释为独立测试估计。来源：论文 v55 摘要、第 2 章及第 4.1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输入进入 VOACAP 基线与残差学习器，预测残差加回基线得到校正值。R 是工程映射分数，未进行概率校准。来源：论文 v55，第 3.1 节与第 5 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支撑度控制时间核宽、主模型权重和低容量回退权重。结果包括 RMSE 与网格评分变化；后者描述局部数值稳定性。来源：论文 v55，第 3.2、3.4 节与第 4.3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候选与在役模型在同一轮可信测试集上的配对比较可用于准入判断；不同轮的测试池组成会变化，跨轮 RMSE 曲线不能单独说明模型质量升降。固定离线协议负责方法评价，生产日志负责记录规则执行。来源：论文 v55，第 1.7、4.1 与 5.2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主结论采用 12 折年月协议。其他切分结果呈现协议敏感性；经度分区用于空间诊断。来源：论文 v55，第 4.1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7.86 与 37.90 dB 来自第 4.1 节同一 12 折协议；8.21 与 34.69 dB 属于参与下限选择的开发阶段时间留出比较。来源：论文 v55 摘要、第 2 章与第 4.1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14,000–20,100 km 区间包含 1,589 条样本，12 折中 8 折改善。网格评分变化反映局部粗糙度。来源：论文 v55，第 3.4 节与第 4.3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上报和可信来源承担不同角色：开放上报可以进入候选拟合；早停验证和准入测试使用可信来源。候选仅在同轮可信测试集达到门槛时上线，并保留运行记录。此流程降低自我验证风险，但不证明训练样本没有污染。来源：论文 v55，第 5.1–5.4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移除 VOACAP 派生特征组后，RMSE 上升 131.6%，12 折均劣化；频率平滑在所测核宽下使 RMSE 上升 0.51%。消融反映当前残差架构对派生输入的依赖。来源：论文 v55，第 4.2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开放上报可作为候选拟合数据；模型早停验证和准入测试使用可信来源数据。候选仅在通过同轮准入比较时上线。来源：论文 v55，第 5.1–5.3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截至 2026-09-12 的运行记录包含 1,174 次自动重训、35 次上线。候选与在役模型在当轮可信测试集上的 RMSE 分别为 8.293 和 8.596 dB；跨轮测试集构成会变，RMSE 轨迹不能直接解释为模型纵向变化。来源：论文 v55，第 5.2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早期 PSKReporter 切片 RMSE 比较值下降 14.63%，历史子集上升 0.08%。该切片约两天，覆盖一个月份和一种太阳活动水平，不能区分传播信息增益与来源适配。来源：论文 v55 摘要与第 5.2、5.4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结论适用于成功接收报告及既定评价协议。可靠度评分尚未经验校准，用户日志治理规则尚未制定。后续工作见第 6 章；结论见第 7 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答疑重点：评估协议、特征消融、新增来源切片、运行期准入与日志治理。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2322636fb46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7f87c76d2a4d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221cf20ced46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8501a24bbb45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ac9b1c73774c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1d8bacca7a4e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4D88B1-1DC5-42C8-8B59-803C0077B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2F56440-2CB9-4EB9-A441-C6105C03C8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31EFD4-A36A-4853-8AAF-55919B3DB4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896A47-E8B3-4296-9079-25078DCEC6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08E9B8-63DA-4CE8-A89E-62BF35F269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83A58C-5028-4562-8C46-FB7AE05B7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AD9E78-A2B1-4251-A627-43FEA77132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3E777B-565B-40E6-8D84-04611F6D24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527EB3-FB55-4090-9DA5-23F536B4E4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259595-A026-4C6F-867A-1640187B77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de31bf606049f3" /><Relationship Type="http://schemas.openxmlformats.org/officeDocument/2006/relationships/slideLayout" Target="/ppt/slideLayouts/slideLayout1.xml" Id="R59d230e2b04045c3" /><Relationship Type="http://schemas.openxmlformats.org/officeDocument/2006/relationships/slideLayout" Target="/ppt/slideLayouts/slideLayout2.xml" Id="Re53721e2ec6e4d95" /><Relationship Type="http://schemas.openxmlformats.org/officeDocument/2006/relationships/slideLayout" Target="/ppt/slideLayouts/slideLayout3.xml" Id="Rb9728ab8bdf84e52" /><Relationship Type="http://schemas.openxmlformats.org/officeDocument/2006/relationships/slideLayout" Target="/ppt/slideLayouts/slideLayout4.xml" Id="R6d67cd1144d74cde" /><Relationship Type="http://schemas.openxmlformats.org/officeDocument/2006/relationships/slideLayout" Target="/ppt/slideLayouts/slideLayout5.xml" Id="R5ffad374ced24f4d" /><Relationship Type="http://schemas.openxmlformats.org/officeDocument/2006/relationships/slideLayout" Target="/ppt/slideLayouts/slideLayout6.xml" Id="Rb384a1de7f874d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d230e2b04045c3"/>
    <p:sldLayoutId xmlns:r="http://schemas.openxmlformats.org/officeDocument/2006/relationships" id="2147483650" r:id="Re53721e2ec6e4d95"/>
    <p:sldLayoutId xmlns:r="http://schemas.openxmlformats.org/officeDocument/2006/relationships" id="2147483651" r:id="Rb9728ab8bdf84e52"/>
    <p:sldLayoutId xmlns:r="http://schemas.openxmlformats.org/officeDocument/2006/relationships" id="2147483652" r:id="R6d67cd1144d74cde"/>
    <p:sldLayoutId xmlns:r="http://schemas.openxmlformats.org/officeDocument/2006/relationships" id="2147483653" r:id="R5ffad374ced24f4d"/>
    <p:sldLayoutId xmlns:r="http://schemas.openxmlformats.org/officeDocument/2006/relationships" id="2147483654" r:id="Rb384a1de7f874d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b7c0b05cb4c3d" /><Relationship Type="http://schemas.openxmlformats.org/officeDocument/2006/relationships/notesSlide" Target="/ppt/notesSlides/notesSlide1.xml" Id="Rf9a40b2a7fb44a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97bd716eb451d" /><Relationship Type="http://schemas.openxmlformats.org/officeDocument/2006/relationships/notesSlide" Target="/ppt/notesSlides/notesSlide2.xml" Id="R91e6b7934b7740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302b9e3f14e6c" /><Relationship Type="http://schemas.openxmlformats.org/officeDocument/2006/relationships/notesSlide" Target="/ppt/notesSlides/notesSlide3.xml" Id="Rc5147a1c5f5946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ec28f18a244cff" /><Relationship Type="http://schemas.openxmlformats.org/officeDocument/2006/relationships/notesSlide" Target="/ppt/notesSlides/notesSlide4.xml" Id="R1ad2b0d9ee5a4d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4b1e9efb0d4d47" /><Relationship Type="http://schemas.openxmlformats.org/officeDocument/2006/relationships/image" Target="/ppt/media/image.png" Id="R1f507d6e0e1f413d" /><Relationship Type="http://schemas.openxmlformats.org/officeDocument/2006/relationships/notesSlide" Target="/ppt/notesSlides/notesSlide5.xml" Id="Re0f408c8d3094f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af17a89c694827" /><Relationship Type="http://schemas.openxmlformats.org/officeDocument/2006/relationships/notesSlide" Target="/ppt/notesSlides/notesSlide6.xml" Id="R9354e05e64d34c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f8fa20bbf243dd" /><Relationship Type="http://schemas.openxmlformats.org/officeDocument/2006/relationships/image" Target="/ppt/media/image2.png" Id="Rc5b37934d73f4c2d" /><Relationship Type="http://schemas.openxmlformats.org/officeDocument/2006/relationships/notesSlide" Target="/ppt/notesSlides/notesSlide7.xml" Id="Rd9bf3d6559134a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c92a62c4af46bd" /><Relationship Type="http://schemas.openxmlformats.org/officeDocument/2006/relationships/image" Target="/ppt/media/image3.png" Id="R244a625073804003" /><Relationship Type="http://schemas.openxmlformats.org/officeDocument/2006/relationships/notesSlide" Target="/ppt/notesSlides/notesSlide8.xml" Id="R58e60e81eadb46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b7739d7a024d4c" /><Relationship Type="http://schemas.openxmlformats.org/officeDocument/2006/relationships/notesSlide" Target="/ppt/notesSlides/notesSlide9.xml" Id="Rb2dd4fdd13904d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c8aec5b4e743a8" /><Relationship Type="http://schemas.openxmlformats.org/officeDocument/2006/relationships/image" Target="/ppt/media/image4.png" Id="Re287c0a30a834a63" /><Relationship Type="http://schemas.openxmlformats.org/officeDocument/2006/relationships/notesSlide" Target="/ppt/notesSlides/notesSlide10.xml" Id="Rb88cc9b503eb49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90088649a4e89" /><Relationship Type="http://schemas.openxmlformats.org/officeDocument/2006/relationships/notesSlide" Target="/ppt/notesSlides/notesSlide11.xml" Id="Rded70a2379ec43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f908912fb44773" /><Relationship Type="http://schemas.openxmlformats.org/officeDocument/2006/relationships/notesSlide" Target="/ppt/notesSlides/notesSlide12.xml" Id="R65aa27515cc74b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35fbeb69954ea2" /><Relationship Type="http://schemas.openxmlformats.org/officeDocument/2006/relationships/notesSlide" Target="/ppt/notesSlides/notesSlide13.xml" Id="R6e56df543d7d40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883ce9ddb24804" /><Relationship Type="http://schemas.openxmlformats.org/officeDocument/2006/relationships/notesSlide" Target="/ppt/notesSlides/notesSlide14.xml" Id="Rea568b92ffbf48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726a8baf4d4b84" /><Relationship Type="http://schemas.openxmlformats.org/officeDocument/2006/relationships/image" Target="/ppt/media/image5.png" Id="R1a369129c4044573" /><Relationship Type="http://schemas.openxmlformats.org/officeDocument/2006/relationships/notesSlide" Target="/ppt/notesSlides/notesSlide15.xml" Id="R1de7c3b48e014e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419a8c26184f6a" /><Relationship Type="http://schemas.openxmlformats.org/officeDocument/2006/relationships/notesSlide" Target="/ppt/notesSlides/notesSlide16.xml" Id="R202bf293049d467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e5bf7dcb644f7c" /><Relationship Type="http://schemas.openxmlformats.org/officeDocument/2006/relationships/notesSlide" Target="/ppt/notesSlides/notesSlide17.xml" Id="Rf6f751b38474464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8ddcf82374823" /><Relationship Type="http://schemas.openxmlformats.org/officeDocument/2006/relationships/notesSlide" Target="/ppt/notesSlides/notesSlide18.xml" Id="Rde89313f6bf541f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38d99fa9f34ec9" /><Relationship Type="http://schemas.openxmlformats.org/officeDocument/2006/relationships/notesSlide" Target="/ppt/notesSlides/notesSlide19.xml" Id="R5151dafe5ddb46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90A70-1BC0-427D-899A-45EEE63C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E170E-0768-4F3B-BC21-3E39A8D2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9BD3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9BD3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9BD3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9BD3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9BD3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9BD3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9BD3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9BD3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9BD3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9BD3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9BD3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BD3CA"/>
                </a:solidFill>
                <a:latin typeface="Microsoft YaHei"/>
                <a:ea typeface="Microsoft YaHei"/>
                <a:cs typeface="Microsoft YaHei"/>
              </a:rPr>
              <a:t>答辩汇报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B8970-A687-4E0D-8BF9-48C31A53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基于众包接收报告的短波链路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名义信噪比残差预测与持续学习系统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066CB-A8EE-4D79-BC80-71BB02AB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9B6A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EA7CD-F35E-44E5-82C4-74A46918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研究对象：成功上报链路的名义 SNR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90131-5E81-4498-9720-E40A384C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rPr>
              <a:t>PropCast｜论文 v55</a:t>
            </a:r>
          </a:p>
        </p:txBody>
      </p:sp>
    </p:spTree>
    <p:extLst>
      <p:ext uri="{BB962C8B-B14F-4D97-AF65-F5344CB8AC3E}">
        <p14:creationId xmlns:p14="http://schemas.microsoft.com/office/powerpoint/2010/main" val="1937666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81C0D-9105-41D5-BB82-7E664336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E99A9-047C-446F-9E64-FE6D8583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物理基线与接收报告共同刻画传播差异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9933B-5EB8-4E6C-BD7C-83E8C766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7D518-4AC8-4564-8A24-38B36C7F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D5AD6-9B4B-4EB9-90C5-253771A6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rPr>
              <a:t>PropCast｜论文 v55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A88B0-7EB0-45BB-A6C4-0E3525B4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rPr>
              <a:t>物理模型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F17B6-0C1B-4AF6-9B24-B19B9E97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095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可覆盖未观测路径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设备、天线与本地环境形成实测差异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BC358-5B3C-41B2-B38F-EF2E7A8B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62125"/>
            <a:ext cx="0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800CE-2A7C-4B66-B3EF-3A2C29B6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众包接收报告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B3A8D-6CF3-4732-8840-78063ECD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反映实际接收链路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空间覆盖不均，记录成功上报事件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3FF9E-2607-41C0-BBED-024F2B68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04775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DB5AE-11C4-46FA-B65A-52B932D0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339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rPr>
              <a:t>研究焦点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40A4FF-A95C-4607-B404-7F32B94E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14900"/>
            <a:ext cx="833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在成功接收样本上校正物理基线，并检验稀疏查询与运行期准入。</a:t>
            </a:r>
          </a:p>
        </p:txBody>
      </p:sp>
    </p:spTree>
    <p:extLst>
      <p:ext uri="{BB962C8B-B14F-4D97-AF65-F5344CB8AC3E}">
        <p14:creationId xmlns:p14="http://schemas.microsoft.com/office/powerpoint/2010/main" val="19957728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A2906-148B-4ADC-A920-38818C11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研究设计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61068-A3E3-43A4-944E-DEBD1ADD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四个研究问题贯穿方法、局部诊断与系统准入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8A506-96B7-49AF-9EB0-48433E9A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E99F4-1933-4679-AF1D-1816B669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2BA56-3E7A-4377-9CB0-347EA6B6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rPr>
              <a:t>PropCast｜论文 v55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C0D9D-6E80-40A6-9BFC-190EC799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3E930-5391-42AF-ACBF-A8E982E1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14500"/>
            <a:ext cx="982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物理基线与统计校正分别贡献多少误差改善？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1B1F7-7E0A-4EFD-A96D-96709C7F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71F89-A610-4C48-A335-8F21DD93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43200"/>
            <a:ext cx="982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总体 RMSE 如何反映稀疏查询网格中的局部输出失稳？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A3D87-99BF-4703-843E-4537B27F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EB812-1612-4B96-9BA1-54A2A42B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71900"/>
            <a:ext cx="982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支撑度下降时，邻域正则化与低容量回退能否共同约束误差和跳变？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30141-4DDB-41AD-9B84-ABCFC18A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15E8F-3487-4736-8826-FF64A059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00600"/>
            <a:ext cx="982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开放上报如何进入训练，同时保持模型准入证据可信？</a:t>
            </a:r>
          </a:p>
        </p:txBody>
      </p:sp>
    </p:spTree>
    <p:extLst>
      <p:ext uri="{BB962C8B-B14F-4D97-AF65-F5344CB8AC3E}">
        <p14:creationId xmlns:p14="http://schemas.microsoft.com/office/powerpoint/2010/main" val="10611029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0EC583-853D-4CB0-947A-1C1F19EE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38580"/>
          </a:bodyPr>
          <a:lstStyle xmlns:a="http://schemas.openxmlformats.org/drawingml/2006/main">
            <a:def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论文结构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00551-3028-46D4-A2F3-59EE408A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77160"/>
          </a:bodyPr>
          <a:lstStyle xmlns:a="http://schemas.openxmlformats.org/drawingml/2006/main">
            <a:def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论文结构按研究证据逐层展开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B85EB-EB1C-4733-9DB0-E801B46B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/>
          </a:bodyPr>
          <a:lstStyle xmlns:a="http://schemas.openxmlformats.org/drawingml/2006/main">
            <a:def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DCB9B-E90F-4CA2-9BCD-087B4446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38580"/>
          </a:bodyPr>
          <a:lstStyle xmlns:a="http://schemas.openxmlformats.org/drawingml/2006/main">
            <a:def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74945-E0BF-444F-A97C-62B93C87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1023"/>
          </a:bodyPr>
          <a:lstStyle xmlns:a="http://schemas.openxmlformats.org/drawingml/2006/main">
            <a:def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rPr>
              <a:t>PropCast｜论文 v55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8E2E9-F409-4684-9D1B-E39D6F9B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66900"/>
            <a:ext cx="6286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89945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69C54-FE63-4DC6-9935-E2D4AD55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19350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19050">
            <a:solidFill>
              <a:srgbClr val="C9D4D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绪论与相关研究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7B940-EA16-4CEC-A3CF-E79625A9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43200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A1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4A16F-A840-4A3D-847F-BCB0F29E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866900"/>
            <a:ext cx="6286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89945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72867-35E1-4CDE-9BD4-310AACB1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19350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19050">
            <a:solidFill>
              <a:srgbClr val="C9D4D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观测数据与质量控制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F0455-C585-4C7D-A1DF-F66A2065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43200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A1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C8339-5CA3-4F48-B6A5-9DD77704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866900"/>
            <a:ext cx="6286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89945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EF2E1-22AD-47EF-984E-2FF39F03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419350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19050">
            <a:solidFill>
              <a:srgbClr val="C9D4D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混合预测模型与稀疏区稳健化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773D6-7B98-48C7-806E-41FB56A7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43200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A1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46E89-B729-4448-AD97-33A13C6E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866900"/>
            <a:ext cx="6286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89945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D9F57-4304-44F7-8845-B4644191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19350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1F0E6"/>
          </a:solidFill>
          <a:ln xmlns:a="http://schemas.openxmlformats.org/drawingml/2006/main" w="19050">
            <a:solidFill>
              <a:srgbClr val="C9D4D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离线实验与方法学检验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94B95-6E38-49CE-9BF3-30F217EC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62350"/>
            <a:ext cx="6286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89945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85B7A7-C04E-46EF-8FE3-FB53A3D6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14800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1F0E6"/>
          </a:solidFill>
          <a:ln xmlns:a="http://schemas.openxmlformats.org/drawingml/2006/main" w="19050">
            <a:solidFill>
              <a:srgbClr val="C9D4D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众包持续学习系统与运行验证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C88B3-F8A9-4D26-AF30-AD033906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38650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A1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823890-708A-4AA8-A6FA-01075A7E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562350"/>
            <a:ext cx="6286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89945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4C90F-9393-483F-B80C-C350019D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114800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1F0E6"/>
          </a:solidFill>
          <a:ln xmlns:a="http://schemas.openxmlformats.org/drawingml/2006/main" w="19050">
            <a:solidFill>
              <a:srgbClr val="C9D4D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讨论与后续研究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7D0672-020D-46AE-AF05-776123EE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38650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A1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58DAA2-E8A9-489C-8985-B7773000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562350"/>
            <a:ext cx="6286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89945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5780B0-9594-4A0D-8529-6131A21D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114800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1F0E6"/>
          </a:solidFill>
          <a:ln xmlns:a="http://schemas.openxmlformats.org/drawingml/2006/main" w="19050">
            <a:solidFill>
              <a:srgbClr val="C9D4D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87CA6-B15A-471B-8E6E-EBB8E801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1009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BED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81768"/>
          </a:bodyPr>
          <a:lstStyle xmlns:a="http://schemas.openxmlformats.org/drawingml/2006/main">
            <a:defPPr algn="ctr">
              <a:defRPr sz="16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问题界定 → 数据口径 → 方法构建 → 离线检验 → 运行验证 → 讨论边界</a:t>
            </a:r>
          </a:p>
        </p:txBody>
      </p:sp>
    </p:spTree>
    <p:extLst>
      <p:ext uri="{BB962C8B-B14F-4D97-AF65-F5344CB8AC3E}">
        <p14:creationId xmlns:p14="http://schemas.microsoft.com/office/powerpoint/2010/main" val="17810655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B952EA-F998-41D5-9DF1-01924F7D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数据与目标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23240-0266-4809-8094-2D2C0C01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数据跨年份与太阳活动阶段，时空分布不均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E19D5-8C68-4F20-8169-6056C6C3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25D74-9FAB-4B36-932F-603B2379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71A73-5874-4DC4-8C41-F098E276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rPr>
              <a:t>PropCast｜论文 v55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2FEA6-957E-40DB-9912-FB0A45B4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93,500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BE5EE-0667-45B0-AD6A-1A12B187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历史 WSPR 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B30F3-81D4-42EF-92AF-16047A4A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5240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rPr>
              <a:t>18,700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45CB7-224A-4D95-8858-22937FF6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57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参与 −120 dB 基线下限选择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62CF9-B37F-48D1-9567-A8E3C5DD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240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74,800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BF4CF-58E2-458F-A241-AB7D8AF5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57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初始训练池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360B1-5019-42FD-A432-0EDE71068F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07d6e0e1f413d"/>
          <a:stretch xmlns:a="http://schemas.openxmlformats.org/drawingml/2006/main"/>
        </p:blipFill>
        <p:spPr>
          <a:xfrm xmlns:a="http://schemas.openxmlformats.org/drawingml/2006/main">
            <a:off x="1744266" y="2571750"/>
            <a:ext cx="8703469" cy="3238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B209F-3CD3-4B23-80B5-95D998AC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43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目标：成功接收报告条件下的名义 SNR</a:t>
            </a:r>
          </a:p>
        </p:txBody>
      </p:sp>
    </p:spTree>
    <p:extLst>
      <p:ext uri="{BB962C8B-B14F-4D97-AF65-F5344CB8AC3E}">
        <p14:creationId xmlns:p14="http://schemas.microsoft.com/office/powerpoint/2010/main" val="5754559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0DC44-87F5-4C33-ADB9-E0BF3200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38580"/>
          </a:bodyPr>
          <a:lstStyle xmlns:a="http://schemas.openxmlformats.org/drawingml/2006/main">
            <a:def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数据与评价边界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B8CC9-2285-4B32-8E9F-151358CA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77160"/>
          </a:bodyPr>
          <a:lstStyle xmlns:a="http://schemas.openxmlformats.org/drawingml/2006/main">
            <a:def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数据分流说明开发阶段结果的适用范围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2C882-484E-4114-B9CB-AB6FDE7B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/>
          </a:bodyPr>
          <a:lstStyle xmlns:a="http://schemas.openxmlformats.org/drawingml/2006/main">
            <a:def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318B2-BDB6-421C-AAAA-A1499771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38580"/>
          </a:bodyPr>
          <a:lstStyle xmlns:a="http://schemas.openxmlformats.org/drawingml/2006/main">
            <a:def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798E1-87C4-4E6B-91F1-AFE256B6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1023"/>
          </a:bodyPr>
          <a:lstStyle xmlns:a="http://schemas.openxmlformats.org/drawingml/2006/main">
            <a:def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rPr>
              <a:t>PropCast｜论文 v55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DD4C9-3CB2-4B6F-9081-64442CA9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19050">
            <a:solidFill>
              <a:srgbClr val="4778A8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历史 WSPR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93,500 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77B10-BBD9-4C32-AB7A-F830487C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365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6447A-1192-48CA-B2D0-AF8EE008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EDD8"/>
          </a:solidFill>
          <a:ln xmlns:a="http://schemas.openxmlformats.org/drawingml/2006/main" w="19050">
            <a:solidFill>
              <a:srgbClr val="E5A14B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时间留出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18,700 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360B4-6D5C-4576-9AC8-D1F05BB8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F0E6"/>
          </a:solidFill>
          <a:ln xmlns:a="http://schemas.openxmlformats.org/drawingml/2006/main" w="19050">
            <a:solidFill>
              <a:srgbClr val="2D827D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初始训练池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74,800 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5B26F-7735-4755-ADBA-03BE16A1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288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A1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73B4D-B43F-4C18-A3B1-740F56E1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71475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827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39D73-2CA4-40B0-B917-49FA5A59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52625"/>
            <a:ext cx="3238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EDD8"/>
          </a:solidFill>
          <a:ln xmlns:a="http://schemas.openxmlformats.org/drawingml/2006/main" w="19050">
            <a:solidFill>
              <a:srgbClr val="E5A14B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参与 −120 dB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基线下限选择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0F9CF-DE8B-445C-B24A-31B3ED23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38500"/>
            <a:ext cx="3238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F0E6"/>
          </a:solidFill>
          <a:ln xmlns:a="http://schemas.openxmlformats.org/drawingml/2006/main" w="19050">
            <a:solidFill>
              <a:srgbClr val="2D827D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训练残差模型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并开展开发阶段评估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D80A3-B0AD-4475-BA5D-9D7FEE7C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9334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8.21 / 34.69 dB：开发阶段比较，不是独立测试估计</a:t>
            </a:r>
          </a:p>
        </p:txBody>
      </p:sp>
    </p:spTree>
    <p:extLst>
      <p:ext uri="{BB962C8B-B14F-4D97-AF65-F5344CB8AC3E}">
        <p14:creationId xmlns:p14="http://schemas.microsoft.com/office/powerpoint/2010/main" val="4046582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0F254-125B-49CF-8BE6-EF336FB7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96589-417A-414B-8A74-0A590328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混合模型以 VOACAP 为基线，由学习器估计残差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5ED40-B694-459E-9054-7FD34E68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5C898-508C-4595-973F-7239893B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A7C0C-0F56-48FB-B751-5A1A57D4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rPr>
              <a:t>PropCast｜论文 v55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44AC9-90BB-40E5-89E8-A341309EA9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37934d73f4c2d"/>
          <a:stretch xmlns:a="http://schemas.openxmlformats.org/drawingml/2006/main"/>
        </p:blipFill>
        <p:spPr>
          <a:xfrm xmlns:a="http://schemas.openxmlformats.org/drawingml/2006/main">
            <a:off x="685800" y="1572752"/>
            <a:ext cx="10820400" cy="4236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DB3B3-2D24-48AA-9026-E5C20C86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817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输出 SNR 校正值；R 为工程映射分数，尚未进行概率校准。</a:t>
            </a:r>
          </a:p>
        </p:txBody>
      </p:sp>
    </p:spTree>
    <p:extLst>
      <p:ext uri="{BB962C8B-B14F-4D97-AF65-F5344CB8AC3E}">
        <p14:creationId xmlns:p14="http://schemas.microsoft.com/office/powerpoint/2010/main" val="14606798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341B2-0CFA-4401-BE1C-32022257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稀疏区稳健化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7CE2E-065A-4E05-8D03-02897458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观测支撑度决定平滑核宽与主模型权重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9A9A2-93C3-4758-A69D-0BE040B3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EACD5-8AC9-47CA-9271-F3C75167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EEA13-9325-407C-8071-E165CF73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rPr>
              <a:t>PropCast｜论文 v55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58BAA-DB9E-444D-9F91-D41016B029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a625073804003"/>
          <a:stretch xmlns:a="http://schemas.openxmlformats.org/drawingml/2006/main"/>
        </p:blipFill>
        <p:spPr>
          <a:xfrm xmlns:a="http://schemas.openxmlformats.org/drawingml/2006/main">
            <a:off x="977503" y="1552575"/>
            <a:ext cx="665559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262EC-1D7D-4C2C-A889-785CA1AA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12 折 RMSE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D29B7-1464-4E09-A79D-01D3169F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改善 0.41%–0.61%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8B56C-C7B0-452A-9745-D152F47B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57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五条预设路径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78565-51F0-49EB-B475-747AE39E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76650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rPr>
              <a:t>相邻评分变化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2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rPr>
              <a:t>下降 12.3%–51.6%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38C37-6B0A-40C4-9387-F0B2BB3B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577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指标：预测误差与网格评分变化</a:t>
            </a:r>
          </a:p>
        </p:txBody>
      </p:sp>
    </p:spTree>
    <p:extLst>
      <p:ext uri="{BB962C8B-B14F-4D97-AF65-F5344CB8AC3E}">
        <p14:creationId xmlns:p14="http://schemas.microsoft.com/office/powerpoint/2010/main" val="17995021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535BB-F062-47DE-B489-7AA3351D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38580"/>
          </a:bodyPr>
          <a:lstStyle xmlns:a="http://schemas.openxmlformats.org/drawingml/2006/main">
            <a:def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评估协议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9C2E5-5FFA-4718-80C5-4DA89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77160"/>
          </a:bodyPr>
          <a:lstStyle xmlns:a="http://schemas.openxmlformats.org/drawingml/2006/main">
            <a:def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同轮配对判断准入，跨轮误差用于记录运行状态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343F7-255E-467F-B3B6-7E687536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/>
          </a:bodyPr>
          <a:lstStyle xmlns:a="http://schemas.openxmlformats.org/drawingml/2006/main">
            <a:def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2D9DE-ECA6-4E08-B69C-7C7E0881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38580"/>
          </a:bodyPr>
          <a:lstStyle xmlns:a="http://schemas.openxmlformats.org/drawingml/2006/main">
            <a:def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F86E8-128B-4869-AAEB-34BD8CE6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1023"/>
          </a:bodyPr>
          <a:lstStyle xmlns:a="http://schemas.openxmlformats.org/drawingml/2006/main">
            <a:def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rPr>
              <a:t>PropCast｜论文 v55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16019-0D2F-4AE7-B368-BDD80EC0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342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89963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离线方法评价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E4F90-5919-4D15-B70A-E967DFB8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3429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19050">
            <a:solidFill>
              <a:srgbClr val="4778A8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固定数据与切分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12 折（年，月）交叉验证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DD72C-E6A5-40AF-AB16-907B4AB7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48125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1F0E6"/>
          </a:solidFill>
          <a:ln xmlns:a="http://schemas.openxmlformats.org/drawingml/2006/main" w="19050">
            <a:solidFill>
              <a:srgbClr val="2D827D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比较模型方法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61AC2-312F-4B45-B18C-3233A2AA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52625"/>
            <a:ext cx="342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89963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运行期准入评价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C54EF-FD45-48D2-85AD-3F533B32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14625"/>
            <a:ext cx="3429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19050">
            <a:solidFill>
              <a:srgbClr val="4778A8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同一轮可信测试集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候选模型 ↔ 在役模型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73497-3F32-44F7-A146-F6AB9B03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48125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1F0E6"/>
          </a:solidFill>
          <a:ln xmlns:a="http://schemas.openxmlformats.org/drawingml/2006/main" w="19050">
            <a:solidFill>
              <a:srgbClr val="2D827D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配对判断是否上线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E2440-2785-49ED-9001-FA008FF2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A1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8EC67-E3DF-4408-9CC6-9AD2F0C5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647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ED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跨轮 RMSE：测试池组成变化，只作运行记录</a:t>
            </a:r>
          </a:p>
        </p:txBody>
      </p:sp>
    </p:spTree>
    <p:extLst>
      <p:ext uri="{BB962C8B-B14F-4D97-AF65-F5344CB8AC3E}">
        <p14:creationId xmlns:p14="http://schemas.microsoft.com/office/powerpoint/2010/main" val="1095708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F6FD4-9B8E-4CDE-B5B4-E7BDD06F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评价协议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A1813-8A6B-46B4-A354-A01A72B4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平滑效果随切分协议变化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1B2F1-0AB9-465E-94FC-4D6C28C1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5400D-A2E6-4D0F-B821-083933D4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3CF33-8078-4AFB-854E-09212AF1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rPr>
              <a:t>PropCast｜论文 v55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DF610-2312-4930-B8EC-69443ED91E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7c0a30a834a63"/>
          <a:stretch xmlns:a="http://schemas.openxmlformats.org/drawingml/2006/main"/>
        </p:blipFill>
        <p:spPr>
          <a:xfrm xmlns:a="http://schemas.openxmlformats.org/drawingml/2006/main">
            <a:off x="2723029" y="1524000"/>
            <a:ext cx="6745941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7C2D7-109E-4AB8-8C54-2DB0E75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72150"/>
            <a:ext cx="103822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643BB-6994-43FD-9F69-3817B883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578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主报告采用 12 折年月交叉验证；各协议结果分别解读。</a:t>
            </a:r>
          </a:p>
        </p:txBody>
      </p:sp>
    </p:spTree>
    <p:extLst>
      <p:ext uri="{BB962C8B-B14F-4D97-AF65-F5344CB8AC3E}">
        <p14:creationId xmlns:p14="http://schemas.microsoft.com/office/powerpoint/2010/main" val="15996423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B0307-67E7-453C-A672-6231AF2E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离线结果｜整体误差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C6C51-6B13-4E21-A9FA-C7F3574F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12 折交叉验证中，混合模型误差低于 VOACAP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C3FAE-DDC9-4EF7-AD52-A3A2A6E8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EBE3F-3CF9-4198-9491-243743C2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33F93-4085-4037-952A-612206F1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rPr>
              <a:t>PropCast｜论文 v55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85133-DFFF-4C7A-99BF-8AD4424B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7.86 dB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554B7-EF93-47DA-8EA2-5A576F0E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混合模型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C4C0B-67C5-4806-A494-7307C37B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rPr>
              <a:t>37.90 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9665F-44B1-4B0C-A7FD-EF48743B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VOACAP 基线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49C29-36E5-4495-A64A-D4ED970D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同一 12 折协议内比较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3BD59-4641-47E6-BFC4-44381935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42867"/>
          </a:bodyPr>
          <a:lstStyle xmlns:a="http://schemas.openxmlformats.org/drawingml/2006/main">
            <a:defPPr algn="l">
              <a:defRPr sz="13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RMSE（dB）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0D8EA-3039-4D4B-8975-2A5682C0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812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B1524-B974-46A6-A08F-19374F4D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95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20576"/>
          </a:bodyPr>
          <a:lstStyle xmlns:a="http://schemas.openxmlformats.org/drawingml/2006/main">
            <a:def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2C2FD-AFC7-4198-B351-609EFE1F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00300"/>
            <a:ext cx="0" cy="2819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90F8C-FDF3-448E-A2F1-A1982666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20576"/>
          </a:bodyPr>
          <a:lstStyle xmlns:a="http://schemas.openxmlformats.org/drawingml/2006/main">
            <a:def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F2D95-15ED-4CE9-AB05-DE1D0217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00300"/>
            <a:ext cx="0" cy="2819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0564AC-387F-4793-BB4B-3B995D46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20576"/>
          </a:bodyPr>
          <a:lstStyle xmlns:a="http://schemas.openxmlformats.org/drawingml/2006/main">
            <a:def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9055C-987D-4BC2-9DAB-AED97935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00300"/>
            <a:ext cx="0" cy="2819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B017F2-7288-4C0C-B5E3-C1006D0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95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20576"/>
          </a:bodyPr>
          <a:lstStyle xmlns:a="http://schemas.openxmlformats.org/drawingml/2006/main">
            <a:def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16D4C7-9517-4AB1-9DA8-9B6478A6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0" cy="2819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CC54F-1E4E-4890-A461-B918004B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20576"/>
          </a:bodyPr>
          <a:lstStyle xmlns:a="http://schemas.openxmlformats.org/drawingml/2006/main">
            <a:def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6CB65-F405-4691-A18F-F86488F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00300"/>
            <a:ext cx="0" cy="2819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DFDFAB-3F20-411D-A31C-3D0F5FB2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68587"/>
          </a:bodyPr>
          <a:lstStyle xmlns:a="http://schemas.openxmlformats.org/drawingml/2006/main">
            <a:def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混合模型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FCC23B-9BFD-4AF3-A0BC-04C65465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68587"/>
          </a:bodyPr>
          <a:lstStyle xmlns:a="http://schemas.openxmlformats.org/drawingml/2006/main">
            <a:def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VOACAP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71EE7D-51C2-4C70-9A16-264B06D4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52750"/>
            <a:ext cx="1048131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27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/>
          </a:bodyPr>
          <a:lstStyle xmlns:a="http://schemas.openxmlformats.org/drawingml/2006/main">
            <a:def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317523-67A2-4106-A23B-4D64480E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43375"/>
            <a:ext cx="505396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9B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/>
          </a:bodyPr>
          <a:lstStyle xmlns:a="http://schemas.openxmlformats.org/drawingml/2006/main">
            <a:def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4018A9-0475-4EB5-B5C6-9BB16808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831" y="29813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61728"/>
          </a:bodyPr>
          <a:lstStyle xmlns:a="http://schemas.openxmlformats.org/drawingml/2006/main">
            <a:defPPr algn="l">
              <a:defRPr sz="15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7.86 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2724BE-1E4A-476B-8877-C1790137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65" y="41719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61728"/>
          </a:bodyPr>
          <a:lstStyle xmlns:a="http://schemas.openxmlformats.org/drawingml/2006/main">
            <a:defPPr algn="r">
              <a:defRPr sz="15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37.90 dB</a:t>
            </a:r>
          </a:p>
        </p:txBody>
      </p:sp>
    </p:spTree>
    <p:extLst>
      <p:ext uri="{BB962C8B-B14F-4D97-AF65-F5344CB8AC3E}">
        <p14:creationId xmlns:p14="http://schemas.microsoft.com/office/powerpoint/2010/main" val="8199081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191CC-D353-4932-B290-31C75CC2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离线结果｜稀疏查询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A386E-BC6E-4D08-92AB-8DB6CC33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局部指标补充 RMSE；回退效果随距离段变化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CD8E4-45AD-4B09-B248-89E1CEB7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5003E-5C6B-4385-BA55-15EC0849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A9BE0-7CE8-41B7-B252-C6BDB240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rPr>
              <a:t>PropCast｜论文 v55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07B37-6917-4665-B9AC-30EEC662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1.28%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4A048-CE1B-4248-BF21-1EBD0085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10,000–14,000 km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低容量回退的汇总 RMSE 改善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F8CAA-5471-4C30-9476-FF8EF547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0" cy="3095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690CA-9BEA-4725-980B-ED5C7E69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097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rPr>
              <a:t>8 / 12 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14EA0-08EC-4A3C-9FEE-28BA913B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14,000–20,100 km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出现改善的折数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17E76-EF9C-4305-8D66-985D94C5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4394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3CA6E-A894-4880-8CC2-BE90150F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rPr>
              <a:t>解释边界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A7738-9183-444E-9E32-54F0DE2E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72075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长路径仅 8/12 折改善；网格变化描述局部评分粗糙度。</a:t>
            </a:r>
          </a:p>
        </p:txBody>
      </p:sp>
    </p:spTree>
    <p:extLst>
      <p:ext uri="{BB962C8B-B14F-4D97-AF65-F5344CB8AC3E}">
        <p14:creationId xmlns:p14="http://schemas.microsoft.com/office/powerpoint/2010/main" val="11768064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741CEB-C4F8-43F8-AD70-721AA537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38580"/>
          </a:bodyPr>
          <a:lstStyle xmlns:a="http://schemas.openxmlformats.org/drawingml/2006/main">
            <a:def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运行系统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35D6A-03A7-42E0-BCB3-F6CC21E0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77160"/>
          </a:bodyPr>
          <a:lstStyle xmlns:a="http://schemas.openxmlformats.org/drawingml/2006/main">
            <a:def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持续学习闭环把开放数据与准入证据分开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D378E-E553-42BD-88D7-6998DC04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/>
          </a:bodyPr>
          <a:lstStyle xmlns:a="http://schemas.openxmlformats.org/drawingml/2006/main">
            <a:def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19AB4-878A-48EE-A87D-600389F7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38580"/>
          </a:bodyPr>
          <a:lstStyle xmlns:a="http://schemas.openxmlformats.org/drawingml/2006/main">
            <a:def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B2CCC-F44A-4142-B240-58BEF2B9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1023"/>
          </a:bodyPr>
          <a:lstStyle xmlns:a="http://schemas.openxmlformats.org/drawingml/2006/main">
            <a:def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rPr>
              <a:t>PropCast｜论文 v55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182F9-691A-45D6-A667-BA941E66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514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74513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3E68A-3DDA-4B67-843D-11132AAB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24150"/>
            <a:ext cx="16954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19050">
            <a:solidFill>
              <a:srgbClr val="4778A8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接收报告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7C06B-89CC-46E6-9700-CF6A2CCC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76625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4D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开放上报 + 可信来源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CD6D7-E46F-4A0C-88ED-0E82E594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48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0FC95-C5CA-44E1-B900-A445F8DB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190750"/>
            <a:ext cx="514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74513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27A03-51BD-486D-BC6E-FCB8C12D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724150"/>
            <a:ext cx="16954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19050">
            <a:solidFill>
              <a:srgbClr val="4778A8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质量检查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B6C2E-026A-43F4-B8DB-18EFAC6A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476625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4D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字段与基线口径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3C101-FD89-4E32-BE21-68DFECF6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48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9A0CB-7169-4982-A0E6-52FBADDE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90750"/>
            <a:ext cx="514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74513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A8630-0717-4378-B799-C362E7E0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24150"/>
            <a:ext cx="16954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19050">
            <a:solidFill>
              <a:srgbClr val="4778A8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候选训练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96678-1163-4FF8-915A-6FDF34D2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76625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4D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开放数据可参与拟合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2ECAE-62A6-4BA0-92D2-F4239805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048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1CF86-40B6-4B17-996B-31766026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190750"/>
            <a:ext cx="514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74513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1BDBA-9A97-4F2B-8CF9-19437BFF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724150"/>
            <a:ext cx="16954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19050">
            <a:solidFill>
              <a:srgbClr val="4778A8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可信评估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ACA31F-93FA-4390-AA70-7EA28C3F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76625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4D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验证与测试独立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A547F5-4EC3-461D-AE48-EB4C6542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048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0DFF9-F632-44AA-BE73-F1B25766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190750"/>
            <a:ext cx="514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74513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C00857-4B42-4C97-ADCA-F209E63E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724150"/>
            <a:ext cx="16954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BEDD8"/>
          </a:solidFill>
          <a:ln xmlns:a="http://schemas.openxmlformats.org/drawingml/2006/main" w="19050">
            <a:solidFill>
              <a:srgbClr val="E5A14B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准入判断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D4AE53-1DDE-4A21-A2CB-9C5F7B55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476625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4D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同轮配对门槛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5B07D1-7123-4288-9EAD-F3408BEC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048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EF671E-C9D2-431D-B56C-16DA8C44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190750"/>
            <a:ext cx="514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74513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2D169E-DC9F-4EF6-9402-2E6A124D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724150"/>
            <a:ext cx="16954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19050">
            <a:solidFill>
              <a:srgbClr val="4778A8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模型更新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A1B3E7-5B98-400E-8741-0AAF658A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476625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4D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通过后替换并记录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C0BB17-AEF0-4CE2-98E5-FE7AE382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00625"/>
            <a:ext cx="9715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1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运行记录用于核查规则是否执行；它不替代固定测试窗上的长期效果评估。</a:t>
            </a:r>
          </a:p>
        </p:txBody>
      </p:sp>
    </p:spTree>
    <p:extLst>
      <p:ext uri="{BB962C8B-B14F-4D97-AF65-F5344CB8AC3E}">
        <p14:creationId xmlns:p14="http://schemas.microsoft.com/office/powerpoint/2010/main" val="2902245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9D69C-4521-4A92-9506-A40AB511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离线结果｜诊断与负面结果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9F160-9BC0-473E-8D2A-EC84BE1D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消融与负向结果揭示特征依赖与性能边界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948CC-964B-4AC2-9220-C4B84994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1E963-05D1-427E-B3F9-081E9E4D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B0499-7D58-4865-8FAD-3724328B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rPr>
              <a:t>PropCast｜论文 v55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1F951-1369-4F85-A39C-6F3AB38D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rPr>
              <a:t>+131.6%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857A2-0072-4BDA-8E46-B570E0D5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移除 VOACAP 派生特征组后的 RMSE 变化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12 折均劣化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68596-EA84-4185-B301-9F267F5C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9545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88469-7069-435D-8355-1B53ED87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rPr>
              <a:t>+0.51%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C4C96-BF7A-48F6-846A-AA6FE5E3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146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频率维平滑在所测核宽下劣化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BF12B-FF0B-45B7-BF6A-F143C03B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05156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10C6D-5324-40F2-92EF-DA9DCA74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387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rPr>
              <a:t>特征依赖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84BD2-1165-4656-9A2C-3BDEE823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91100"/>
            <a:ext cx="823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消融结果体现当前残差架构对 VOACAP 派生特征组的依赖。</a:t>
            </a:r>
          </a:p>
        </p:txBody>
      </p:sp>
    </p:spTree>
    <p:extLst>
      <p:ext uri="{BB962C8B-B14F-4D97-AF65-F5344CB8AC3E}">
        <p14:creationId xmlns:p14="http://schemas.microsoft.com/office/powerpoint/2010/main" val="9411196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DD31D-1123-4354-A737-D839E4D9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运行系统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CFE48-CAB5-4DD5-A53B-722CE7C9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训练数据与准入证据采用不同可信度口径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EABFD-F1C6-4ECE-B55D-B4FA7829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7A790-96FE-4537-9ACE-9EC6DCFA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AF92F-88BF-4B30-A64E-BF8B8A09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rPr>
              <a:t>PropCast｜论文 v55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B57BE-8A99-47FF-BCBA-C5B3CCBB4A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69129c4044573"/>
          <a:stretch xmlns:a="http://schemas.openxmlformats.org/drawingml/2006/main"/>
        </p:blipFill>
        <p:spPr>
          <a:xfrm xmlns:a="http://schemas.openxmlformats.org/drawingml/2006/main">
            <a:off x="838422" y="1476375"/>
            <a:ext cx="10515157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067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1D4A95-63C0-406D-AC41-86BEE5D1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运行验证｜2026-09-12 快照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2C33F-7EA8-4A4E-9F69-5EC06F73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运行快照：累计重训、上线与同轮准入表现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39764-C739-4329-A205-1A7A91E8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5178B-C50A-46DE-B744-E4B95219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3C21E-4148-42E0-AB7A-ABF5D48D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rPr>
              <a:t>PropCast｜论文 v55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E145D-0BD2-49CD-B63E-1E43BC64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2,889,356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B161E-5B72-4D54-BBE4-B7CDECF6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累积观测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817B6-2FE5-4257-A7BF-F9DE16D2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192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4778A8"/>
                </a:solidFill>
                <a:latin typeface="Microsoft YaHei"/>
                <a:ea typeface="Microsoft YaHei"/>
                <a:cs typeface="Microsoft YaHei"/>
              </a:rPr>
              <a:t>1,174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18A21-55F0-47A5-86B8-1CF2CF75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479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自动重训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1C7BE-98F7-4343-A2A2-BC70E472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6192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A4E8A-C28D-462B-84E4-F01D5792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479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通过门槛上线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99D29-E292-44F0-AA8A-C9BCA44D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243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同轮可信测试集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AE35C-2E86-4157-B346-CEC4DC19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243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7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8.596 → 8.293 dB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A73A1-B211-4688-8DDA-60A5EA96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149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RMSE 改善 3.53%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32CDB-41A2-4465-93DC-1001AD33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340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本轮改善 3.53%，超过 0.2% 准入门槛</a:t>
            </a:r>
          </a:p>
        </p:txBody>
      </p:sp>
    </p:spTree>
    <p:extLst>
      <p:ext uri="{BB962C8B-B14F-4D97-AF65-F5344CB8AC3E}">
        <p14:creationId xmlns:p14="http://schemas.microsoft.com/office/powerpoint/2010/main" val="15421820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24FCA-2459-4640-8957-E5F57A1D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运行验证｜新增来源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12557-8D26-44D7-A637-1804E0D3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新增来源切片误差下降，历史子集基本持平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46CE3-DAB9-4897-96DA-1E5D3A94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1D8A7-E34A-4A8E-A23A-998A668A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2A258-C694-46B7-A0BA-A0DB972C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rPr>
              <a:t>PropCast｜论文 v55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1948B-8C21-48CD-B48C-CE579728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4333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−14.63%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41ED2-AAE7-4B22-A333-8473F74C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新采 PSKReporter 切片 RMSE 比较值下降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009EF-3144-4F71-8176-8D243A76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0" cy="232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75137-85DA-4678-A481-8009496D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C76359"/>
                </a:solidFill>
                <a:latin typeface="Microsoft YaHei"/>
                <a:ea typeface="Microsoft YaHei"/>
                <a:cs typeface="Microsoft YaHei"/>
              </a:rPr>
              <a:t>+0.08%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1C943-C844-4B3F-A62E-9B9DC532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历史子集 RMSE 上升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E95E9-7E54-4D66-9ADA-6782D9FF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10287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7B133-A0BB-4D27-AE71-C8E8D493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时间覆盖约两天，处于一个月份和一种太阳活动水平。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95157-359C-44A4-A72E-F112C622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530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853058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81BAE-601E-44A8-955D-8E792F70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结论与后续工作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31906-D173-45B0-9687-759533DF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主要发现与后续验证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F5ACD-0203-45A3-AFF0-6181AEF0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3C9CF-ED30-4B03-B707-B551917D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36579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7415A-D435-45C2-BF34-3BFCD47C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28193"/>
                </a:solidFill>
                <a:latin typeface="Microsoft YaHei"/>
                <a:ea typeface="Microsoft YaHei"/>
                <a:cs typeface="Microsoft YaHei"/>
              </a:rPr>
              <a:t>PropCast｜论文 v55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F43CC-7590-4E63-95B6-73D8665E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47756-307B-429F-84FA-578E65CC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9250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物理基线与残差学习在既定 12 折协议下取得较低汇总误差。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FF1D7-685E-446A-93B1-50FE42AA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F5897-2592-456E-A878-7BAA84DD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19375"/>
            <a:ext cx="99250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支撑自适应正则化降低开发阶段折间误差；低支撑区表现待验证。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51DD7-FB98-4DD1-AF46-4A3521E9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D82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4E780-7511-4642-9F60-F86F8045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19500"/>
            <a:ext cx="99250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83F"/>
                </a:solidFill>
                <a:latin typeface="Microsoft YaHei"/>
                <a:ea typeface="Microsoft YaHei"/>
                <a:cs typeface="Microsoft YaHei"/>
              </a:rPr>
              <a:t>持续学习系统实现来源分层与同轮准入，运行记录呈现规则执行情况。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632F0-29F9-4EBA-9940-B9E0A2B3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05156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41A99-19C3-43EA-8665-A11A8E44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5A14A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5948F-9462-4C70-8CFD-07E4A169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95850"/>
            <a:ext cx="828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冻结未来测试窗；补足失败事件与校准数据；先制定用户日志的数据治理规则。</a:t>
            </a:r>
          </a:p>
        </p:txBody>
      </p:sp>
    </p:spTree>
    <p:extLst>
      <p:ext uri="{BB962C8B-B14F-4D97-AF65-F5344CB8AC3E}">
        <p14:creationId xmlns:p14="http://schemas.microsoft.com/office/powerpoint/2010/main" val="16574488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2B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64C7A-379C-4D87-B352-779A29BB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BAF45-B5CC-4B0B-B456-41C3B5DA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2B33F-5870-4714-86DB-DB474096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2295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9B6A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22FA7-7B6A-4E52-A065-82AA728D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981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基于众包接收报告的短波链路名义 SNR 残差预测与持续学习系统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96B6B-D672-4CB3-B1D4-CD29B315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rPr>
              <a:t>PropCast｜论文 v55</a:t>
            </a:r>
          </a:p>
        </p:txBody>
      </p:sp>
    </p:spTree>
    <p:extLst>
      <p:ext uri="{BB962C8B-B14F-4D97-AF65-F5344CB8AC3E}">
        <p14:creationId xmlns:p14="http://schemas.microsoft.com/office/powerpoint/2010/main" val="1915096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2026-10-18T03:40:25.6900000Z</dcterms:created>
  <dcterms:modified xsi:type="dcterms:W3CDTF">2026-10-18T03:40:25.6900000Z</dcterms:modified>
</coreProperties>
</file>